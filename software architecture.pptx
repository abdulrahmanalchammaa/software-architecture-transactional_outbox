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Lst>
  <p:sldSz cx="18288000" cy="10287000"/>
  <p:notesSz cx="6858000" cy="9144000"/>
  <p:embeddedFontLst>
    <p:embeddedFont>
      <p:font typeface="Clear Sans Bold" panose="020B0604020202020204" charset="0"/>
      <p:regular r:id="rId15"/>
    </p:embeddedFont>
    <p:embeddedFont>
      <p:font typeface="Clear Sans Regular Bold" panose="020B0604020202020204" charset="0"/>
      <p:regular r:id="rId16"/>
    </p:embeddedFont>
    <p:embeddedFont>
      <p:font typeface="Clear Sans Regular" panose="020B0604020202020204" charset="0"/>
      <p:regular r:id="rId17"/>
    </p:embeddedFont>
    <p:embeddedFont>
      <p:font typeface="Calibri" panose="020F0502020204030204" pitchFamily="3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53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0.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pSp>
        <p:nvGrpSpPr>
          <p:cNvPr id="2" name="Group 2"/>
          <p:cNvGrpSpPr/>
          <p:nvPr/>
        </p:nvGrpSpPr>
        <p:grpSpPr>
          <a:xfrm>
            <a:off x="9144000" y="2024192"/>
            <a:ext cx="8217084" cy="6427062"/>
            <a:chOff x="0" y="0"/>
            <a:chExt cx="10956112" cy="8569416"/>
          </a:xfrm>
        </p:grpSpPr>
        <p:sp>
          <p:nvSpPr>
            <p:cNvPr id="3" name="TextBox 3"/>
            <p:cNvSpPr txBox="1"/>
            <p:nvPr/>
          </p:nvSpPr>
          <p:spPr>
            <a:xfrm>
              <a:off x="0" y="1368999"/>
              <a:ext cx="10956112" cy="4166659"/>
            </a:xfrm>
            <a:prstGeom prst="rect">
              <a:avLst/>
            </a:prstGeom>
          </p:spPr>
          <p:txBody>
            <a:bodyPr lIns="0" tIns="0" rIns="0" bIns="0" rtlCol="0" anchor="t">
              <a:spAutoFit/>
            </a:bodyPr>
            <a:lstStyle/>
            <a:p>
              <a:pPr>
                <a:lnSpc>
                  <a:spcPts val="8000"/>
                </a:lnSpc>
              </a:pPr>
              <a:r>
                <a:rPr lang="en-US" sz="8000">
                  <a:solidFill>
                    <a:srgbClr val="F7B4A7"/>
                  </a:solidFill>
                  <a:latin typeface="Clear Sans Bold Bold"/>
                </a:rPr>
                <a:t>The Transactional Outbox pattern</a:t>
              </a:r>
            </a:p>
          </p:txBody>
        </p:sp>
        <p:sp>
          <p:nvSpPr>
            <p:cNvPr id="4" name="TextBox 4"/>
            <p:cNvSpPr txBox="1"/>
            <p:nvPr/>
          </p:nvSpPr>
          <p:spPr>
            <a:xfrm>
              <a:off x="0" y="-47625"/>
              <a:ext cx="10956112" cy="525145"/>
            </a:xfrm>
            <a:prstGeom prst="rect">
              <a:avLst/>
            </a:prstGeom>
          </p:spPr>
          <p:txBody>
            <a:bodyPr lIns="0" tIns="0" rIns="0" bIns="0" rtlCol="0" anchor="t">
              <a:spAutoFit/>
            </a:bodyPr>
            <a:lstStyle/>
            <a:p>
              <a:pPr>
                <a:lnSpc>
                  <a:spcPts val="3359"/>
                </a:lnSpc>
              </a:pPr>
              <a:r>
                <a:rPr lang="en-US" sz="2400">
                  <a:solidFill>
                    <a:srgbClr val="94DDDE"/>
                  </a:solidFill>
                  <a:latin typeface="Clear Sans Regular"/>
                </a:rPr>
                <a:t>MAY 18, 2023</a:t>
              </a:r>
            </a:p>
          </p:txBody>
        </p:sp>
        <p:sp>
          <p:nvSpPr>
            <p:cNvPr id="5" name="TextBox 5"/>
            <p:cNvSpPr txBox="1"/>
            <p:nvPr/>
          </p:nvSpPr>
          <p:spPr>
            <a:xfrm>
              <a:off x="0" y="6217587"/>
              <a:ext cx="10956112" cy="2351828"/>
            </a:xfrm>
            <a:prstGeom prst="rect">
              <a:avLst/>
            </a:prstGeom>
          </p:spPr>
          <p:txBody>
            <a:bodyPr lIns="0" tIns="0" rIns="0" bIns="0" rtlCol="0" anchor="t">
              <a:spAutoFit/>
            </a:bodyPr>
            <a:lstStyle/>
            <a:p>
              <a:pPr>
                <a:lnSpc>
                  <a:spcPts val="4759"/>
                </a:lnSpc>
              </a:pPr>
              <a:r>
                <a:rPr lang="en-US" sz="3399">
                  <a:solidFill>
                    <a:srgbClr val="94DDDE"/>
                  </a:solidFill>
                  <a:latin typeface="Clear Sans Regular Bold"/>
                </a:rPr>
                <a:t>Abdulrahman Alchammaa </a:t>
              </a:r>
            </a:p>
            <a:p>
              <a:pPr>
                <a:lnSpc>
                  <a:spcPts val="4759"/>
                </a:lnSpc>
              </a:pPr>
              <a:r>
                <a:rPr lang="en-US" sz="3399">
                  <a:solidFill>
                    <a:srgbClr val="94DDDE"/>
                  </a:solidFill>
                  <a:latin typeface="Clear Sans Regular Bold"/>
                </a:rPr>
                <a:t>1700004624</a:t>
              </a:r>
            </a:p>
            <a:p>
              <a:pPr>
                <a:lnSpc>
                  <a:spcPts val="4759"/>
                </a:lnSpc>
              </a:pPr>
              <a:endParaRPr lang="en-US" sz="3399">
                <a:solidFill>
                  <a:srgbClr val="94DDDE"/>
                </a:solidFill>
                <a:latin typeface="Clear Sans Regular Bold"/>
              </a:endParaRPr>
            </a:p>
          </p:txBody>
        </p:sp>
      </p:gr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182834" y="-1921745"/>
            <a:ext cx="6755642" cy="4114800"/>
          </a:xfrm>
          <a:prstGeom prst="rect">
            <a:avLst/>
          </a:prstGeom>
        </p:spPr>
      </p:pic>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6303834" y="1790711"/>
            <a:ext cx="1194327" cy="2586142"/>
          </a:xfrm>
          <a:prstGeom prst="rect">
            <a:avLst/>
          </a:prstGeom>
        </p:spPr>
      </p:pic>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flipH="1">
            <a:off x="2095190" y="2021154"/>
            <a:ext cx="5357753" cy="5591583"/>
          </a:xfrm>
          <a:prstGeom prst="rect">
            <a:avLst/>
          </a:prstGeom>
        </p:spPr>
      </p:pic>
      <p:pic>
        <p:nvPicPr>
          <p:cNvPr id="9" name="Picture 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a:off x="-947148" y="1264426"/>
            <a:ext cx="3144039" cy="2440918"/>
          </a:xfrm>
          <a:prstGeom prst="rect">
            <a:avLst/>
          </a:prstGeom>
        </p:spPr>
      </p:pic>
      <p:pic>
        <p:nvPicPr>
          <p:cNvPr id="10" name="Picture 1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rcRect/>
          <a:stretch>
            <a:fillRect/>
          </a:stretch>
        </p:blipFill>
        <p:spPr>
          <a:xfrm>
            <a:off x="624872" y="5005800"/>
            <a:ext cx="1894295" cy="4252500"/>
          </a:xfrm>
          <a:prstGeom prst="rect">
            <a:avLst/>
          </a:prstGeom>
        </p:spPr>
      </p:pic>
      <p:pic>
        <p:nvPicPr>
          <p:cNvPr id="11" name="Picture 1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rcRect/>
          <a:stretch>
            <a:fillRect/>
          </a:stretch>
        </p:blipFill>
        <p:spPr>
          <a:xfrm>
            <a:off x="4011803" y="7612736"/>
            <a:ext cx="3486358"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B4A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2443088" y="-1095217"/>
            <a:ext cx="6414740" cy="6631780"/>
          </a:xfrm>
          <a:prstGeom prst="rect">
            <a:avLst/>
          </a:prstGeom>
        </p:spPr>
      </p:pic>
      <p:sp>
        <p:nvSpPr>
          <p:cNvPr id="3" name="TextBox 3"/>
          <p:cNvSpPr txBox="1"/>
          <p:nvPr/>
        </p:nvSpPr>
        <p:spPr>
          <a:xfrm>
            <a:off x="946160" y="910315"/>
            <a:ext cx="9569415" cy="1731645"/>
          </a:xfrm>
          <a:prstGeom prst="rect">
            <a:avLst/>
          </a:prstGeom>
        </p:spPr>
        <p:txBody>
          <a:bodyPr lIns="0" tIns="0" rIns="0" bIns="0" rtlCol="0" anchor="t">
            <a:spAutoFit/>
          </a:bodyPr>
          <a:lstStyle/>
          <a:p>
            <a:pPr>
              <a:lnSpc>
                <a:spcPts val="6719"/>
              </a:lnSpc>
            </a:pPr>
            <a:r>
              <a:rPr lang="en-US" sz="6399">
                <a:solidFill>
                  <a:srgbClr val="2B4B82"/>
                </a:solidFill>
                <a:latin typeface="Clear Sans Bold Bold"/>
              </a:rPr>
              <a:t>what is Transactional Outbox ?</a:t>
            </a:r>
          </a:p>
        </p:txBody>
      </p:sp>
      <p:graphicFrame>
        <p:nvGraphicFramePr>
          <p:cNvPr id="4" name="Table 4"/>
          <p:cNvGraphicFramePr>
            <a:graphicFrameLocks noGrp="1"/>
          </p:cNvGraphicFramePr>
          <p:nvPr/>
        </p:nvGraphicFramePr>
        <p:xfrm>
          <a:off x="682379" y="3868476"/>
          <a:ext cx="8461621" cy="4010025"/>
        </p:xfrm>
        <a:graphic>
          <a:graphicData uri="http://schemas.openxmlformats.org/drawingml/2006/table">
            <a:tbl>
              <a:tblPr/>
              <a:tblGrid>
                <a:gridCol w="3903212"/>
              </a:tblGrid>
              <a:tr h="4010025">
                <a:tc>
                  <a:txBody>
                    <a:bodyPr/>
                    <a:lstStyle/>
                    <a:p>
                      <a:pPr algn="l">
                        <a:lnSpc>
                          <a:spcPts val="3919"/>
                        </a:lnSpc>
                        <a:defRPr/>
                      </a:pPr>
                      <a:r>
                        <a:rPr lang="en-US" sz="2799">
                          <a:solidFill>
                            <a:srgbClr val="2B4B82"/>
                          </a:solidFill>
                          <a:latin typeface="Clear Sans Bold Bold"/>
                        </a:rPr>
                        <a:t>The Transactional Outbox is a software design pattern that addresses the challenge of reliable and consistent message-driven communication within a distributed system. It is used to ensure that messages are delivered reliably to multiple components or services when a specific action or event occurs.</a:t>
                      </a:r>
                      <a:endParaRPr lang="en-US" sz="110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r>
            </a:tbl>
          </a:graphicData>
        </a:graphic>
      </p:graphicFrame>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3833949" y="5536563"/>
            <a:ext cx="1816509" cy="39333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pSp>
        <p:nvGrpSpPr>
          <p:cNvPr id="2" name="Group 2"/>
          <p:cNvGrpSpPr/>
          <p:nvPr/>
        </p:nvGrpSpPr>
        <p:grpSpPr>
          <a:xfrm>
            <a:off x="1309758" y="1817226"/>
            <a:ext cx="6060519" cy="6652549"/>
            <a:chOff x="0" y="0"/>
            <a:chExt cx="8080692" cy="8870065"/>
          </a:xfrm>
        </p:grpSpPr>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0" y="0"/>
              <a:ext cx="5166060" cy="6830128"/>
            </a:xfrm>
            <a:prstGeom prst="rect">
              <a:avLst/>
            </a:prstGeom>
          </p:spPr>
        </p:pic>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8290" y="1054304"/>
              <a:ext cx="5166060" cy="6830128"/>
            </a:xfrm>
            <a:prstGeom prst="rect">
              <a:avLst/>
            </a:prstGeom>
          </p:spPr>
        </p:pic>
        <p:pic>
          <p:nvPicPr>
            <p:cNvPr id="5" name="Picture 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2914631" y="2039937"/>
              <a:ext cx="5166060" cy="6830128"/>
            </a:xfrm>
            <a:prstGeom prst="rect">
              <a:avLst/>
            </a:prstGeom>
          </p:spPr>
        </p:pic>
      </p:grpSp>
      <p:graphicFrame>
        <p:nvGraphicFramePr>
          <p:cNvPr id="6" name="Table 6"/>
          <p:cNvGraphicFramePr>
            <a:graphicFrameLocks noGrp="1"/>
          </p:cNvGraphicFramePr>
          <p:nvPr/>
        </p:nvGraphicFramePr>
        <p:xfrm>
          <a:off x="8627676" y="1028700"/>
          <a:ext cx="8900153" cy="7289014"/>
        </p:xfrm>
        <a:graphic>
          <a:graphicData uri="http://schemas.openxmlformats.org/drawingml/2006/table">
            <a:tbl>
              <a:tblPr/>
              <a:tblGrid>
                <a:gridCol w="8900153"/>
              </a:tblGrid>
              <a:tr h="2095619">
                <a:tc>
                  <a:txBody>
                    <a:bodyPr/>
                    <a:lstStyle/>
                    <a:p>
                      <a:pPr algn="l">
                        <a:lnSpc>
                          <a:spcPts val="11340"/>
                        </a:lnSpc>
                        <a:defRPr/>
                      </a:pPr>
                      <a:r>
                        <a:rPr lang="en-US" sz="8100">
                          <a:solidFill>
                            <a:srgbClr val="F7B4A7"/>
                          </a:solidFill>
                          <a:latin typeface="Clear Sans Bold Bold"/>
                        </a:rPr>
                        <a:t>Today's Agenda</a:t>
                      </a:r>
                      <a:endParaRPr lang="en-US" sz="1100"/>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tr>
              <a:tr h="1558501">
                <a:tc>
                  <a:txBody>
                    <a:bodyPr/>
                    <a:lstStyle/>
                    <a:p>
                      <a:pPr algn="l">
                        <a:lnSpc>
                          <a:spcPts val="4060"/>
                        </a:lnSpc>
                        <a:defRPr/>
                      </a:pPr>
                      <a:endParaRPr lang="en-US" sz="1100"/>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tr>
              <a:tr h="3634894">
                <a:tc>
                  <a:txBody>
                    <a:bodyPr/>
                    <a:lstStyle/>
                    <a:p>
                      <a:pPr marL="734058" lvl="1" indent="-367029" algn="l">
                        <a:lnSpc>
                          <a:spcPts val="4759"/>
                        </a:lnSpc>
                        <a:buFont typeface="Arial"/>
                        <a:buChar char="•"/>
                        <a:defRPr/>
                      </a:pPr>
                      <a:r>
                        <a:rPr lang="en-US" sz="3399">
                          <a:solidFill>
                            <a:srgbClr val="94DDDE"/>
                          </a:solidFill>
                          <a:latin typeface="Clear Sans Regular"/>
                        </a:rPr>
                        <a:t>Aim of the pattern</a:t>
                      </a:r>
                      <a:endParaRPr lang="en-US" sz="1100"/>
                    </a:p>
                    <a:p>
                      <a:pPr marL="734058" lvl="1" indent="-367029">
                        <a:lnSpc>
                          <a:spcPts val="4759"/>
                        </a:lnSpc>
                        <a:buFont typeface="Arial"/>
                        <a:buChar char="•"/>
                      </a:pPr>
                      <a:r>
                        <a:rPr lang="en-US" sz="3399">
                          <a:solidFill>
                            <a:srgbClr val="94DDDE"/>
                          </a:solidFill>
                          <a:latin typeface="Clear Sans Regular"/>
                        </a:rPr>
                        <a:t>Implementation</a:t>
                      </a:r>
                    </a:p>
                    <a:p>
                      <a:pPr marL="734058" lvl="1" indent="-367029">
                        <a:lnSpc>
                          <a:spcPts val="4759"/>
                        </a:lnSpc>
                        <a:buFont typeface="Arial"/>
                        <a:buChar char="•"/>
                      </a:pPr>
                      <a:r>
                        <a:rPr lang="en-US" sz="3399">
                          <a:solidFill>
                            <a:srgbClr val="94DDDE"/>
                          </a:solidFill>
                          <a:latin typeface="Clear Sans Regular"/>
                        </a:rPr>
                        <a:t>Pattern and their roles</a:t>
                      </a:r>
                    </a:p>
                    <a:p>
                      <a:pPr marL="734058" lvl="1" indent="-367029">
                        <a:lnSpc>
                          <a:spcPts val="4759"/>
                        </a:lnSpc>
                        <a:buFont typeface="Arial"/>
                        <a:buChar char="•"/>
                      </a:pPr>
                      <a:r>
                        <a:rPr lang="en-US" sz="3399">
                          <a:solidFill>
                            <a:srgbClr val="94DDDE"/>
                          </a:solidFill>
                          <a:latin typeface="Clear Sans Regular"/>
                        </a:rPr>
                        <a:t>Software code &amp; explanation</a:t>
                      </a:r>
                    </a:p>
                    <a:p>
                      <a:pPr>
                        <a:lnSpc>
                          <a:spcPts val="4759"/>
                        </a:lnSpc>
                      </a:pPr>
                      <a:endParaRPr lang="en-US" sz="3399">
                        <a:solidFill>
                          <a:srgbClr val="94DDDE"/>
                        </a:solidFill>
                        <a:latin typeface="Clear Sans Regular"/>
                      </a:endParaRPr>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1876152" y="3086100"/>
            <a:ext cx="5131837" cy="4114800"/>
          </a:xfrm>
          <a:prstGeom prst="rect">
            <a:avLst/>
          </a:prstGeom>
        </p:spPr>
      </p:pic>
      <p:grpSp>
        <p:nvGrpSpPr>
          <p:cNvPr id="3" name="Group 3"/>
          <p:cNvGrpSpPr/>
          <p:nvPr/>
        </p:nvGrpSpPr>
        <p:grpSpPr>
          <a:xfrm>
            <a:off x="1028700" y="1549569"/>
            <a:ext cx="9768230" cy="7303431"/>
            <a:chOff x="0" y="0"/>
            <a:chExt cx="13024306" cy="9737908"/>
          </a:xfrm>
        </p:grpSpPr>
        <p:sp>
          <p:nvSpPr>
            <p:cNvPr id="4" name="TextBox 4"/>
            <p:cNvSpPr txBox="1"/>
            <p:nvPr/>
          </p:nvSpPr>
          <p:spPr>
            <a:xfrm>
              <a:off x="0" y="85725"/>
              <a:ext cx="13024306" cy="3467735"/>
            </a:xfrm>
            <a:prstGeom prst="rect">
              <a:avLst/>
            </a:prstGeom>
          </p:spPr>
          <p:txBody>
            <a:bodyPr lIns="0" tIns="0" rIns="0" bIns="0" rtlCol="0" anchor="t">
              <a:spAutoFit/>
            </a:bodyPr>
            <a:lstStyle/>
            <a:p>
              <a:pPr algn="ctr">
                <a:lnSpc>
                  <a:spcPts val="6719"/>
                </a:lnSpc>
              </a:pPr>
              <a:r>
                <a:rPr lang="en-US" sz="6399">
                  <a:solidFill>
                    <a:srgbClr val="31356E"/>
                  </a:solidFill>
                  <a:latin typeface="Clear Sans Bold"/>
                </a:rPr>
                <a:t>Aim of the pattern and implementation of Transactional Outbox</a:t>
              </a:r>
            </a:p>
          </p:txBody>
        </p:sp>
        <p:sp>
          <p:nvSpPr>
            <p:cNvPr id="5" name="TextBox 5"/>
            <p:cNvSpPr txBox="1"/>
            <p:nvPr/>
          </p:nvSpPr>
          <p:spPr>
            <a:xfrm>
              <a:off x="0" y="4292571"/>
              <a:ext cx="12478551" cy="5445337"/>
            </a:xfrm>
            <a:prstGeom prst="rect">
              <a:avLst/>
            </a:prstGeom>
          </p:spPr>
          <p:txBody>
            <a:bodyPr lIns="0" tIns="0" rIns="0" bIns="0" rtlCol="0" anchor="t">
              <a:spAutoFit/>
            </a:bodyPr>
            <a:lstStyle/>
            <a:p>
              <a:pPr marL="626111" lvl="1" indent="-313055">
                <a:lnSpc>
                  <a:spcPts val="4060"/>
                </a:lnSpc>
                <a:buFont typeface="Arial"/>
                <a:buChar char="•"/>
              </a:pPr>
              <a:r>
                <a:rPr lang="en-US" sz="2900">
                  <a:solidFill>
                    <a:srgbClr val="2B4B82"/>
                  </a:solidFill>
                  <a:latin typeface="Clear Sans Regular"/>
                </a:rPr>
                <a:t>To provide a reliable and scalable solution for handling message-driven communication between different components or services within a distributed system. It helps to ensure that messages are delivered reliably and that they are processed consistently.</a:t>
              </a:r>
            </a:p>
            <a:p>
              <a:pPr>
                <a:lnSpc>
                  <a:spcPts val="4060"/>
                </a:lnSpc>
              </a:pPr>
              <a:endParaRPr lang="en-US" sz="2900">
                <a:solidFill>
                  <a:srgbClr val="2B4B82"/>
                </a:solidFill>
                <a:latin typeface="Clear Sans Regular"/>
              </a:endParaRPr>
            </a:p>
            <a:p>
              <a:pPr>
                <a:lnSpc>
                  <a:spcPts val="4060"/>
                </a:lnSpc>
              </a:pPr>
              <a:endParaRPr lang="en-US" sz="2900">
                <a:solidFill>
                  <a:srgbClr val="2B4B82"/>
                </a:solidFill>
                <a:latin typeface="Clear Sans Regul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1876152" y="3086100"/>
            <a:ext cx="5131837" cy="4114800"/>
          </a:xfrm>
          <a:prstGeom prst="rect">
            <a:avLst/>
          </a:prstGeom>
        </p:spPr>
      </p:pic>
      <p:grpSp>
        <p:nvGrpSpPr>
          <p:cNvPr id="3" name="Group 3"/>
          <p:cNvGrpSpPr/>
          <p:nvPr/>
        </p:nvGrpSpPr>
        <p:grpSpPr>
          <a:xfrm>
            <a:off x="1028700" y="1549569"/>
            <a:ext cx="9768230" cy="7303431"/>
            <a:chOff x="0" y="0"/>
            <a:chExt cx="13024306" cy="9737908"/>
          </a:xfrm>
        </p:grpSpPr>
        <p:sp>
          <p:nvSpPr>
            <p:cNvPr id="4" name="TextBox 4"/>
            <p:cNvSpPr txBox="1"/>
            <p:nvPr/>
          </p:nvSpPr>
          <p:spPr>
            <a:xfrm>
              <a:off x="0" y="85725"/>
              <a:ext cx="13024306" cy="3467735"/>
            </a:xfrm>
            <a:prstGeom prst="rect">
              <a:avLst/>
            </a:prstGeom>
          </p:spPr>
          <p:txBody>
            <a:bodyPr lIns="0" tIns="0" rIns="0" bIns="0" rtlCol="0" anchor="t">
              <a:spAutoFit/>
            </a:bodyPr>
            <a:lstStyle/>
            <a:p>
              <a:pPr algn="ctr">
                <a:lnSpc>
                  <a:spcPts val="6719"/>
                </a:lnSpc>
              </a:pPr>
              <a:r>
                <a:rPr lang="en-US" sz="6399">
                  <a:solidFill>
                    <a:srgbClr val="31356E"/>
                  </a:solidFill>
                  <a:latin typeface="Clear Sans Bold"/>
                </a:rPr>
                <a:t>Aim of the pattern and implementation of Transactional Outbox</a:t>
              </a:r>
            </a:p>
          </p:txBody>
        </p:sp>
        <p:sp>
          <p:nvSpPr>
            <p:cNvPr id="5" name="TextBox 5"/>
            <p:cNvSpPr txBox="1"/>
            <p:nvPr/>
          </p:nvSpPr>
          <p:spPr>
            <a:xfrm>
              <a:off x="0" y="4292571"/>
              <a:ext cx="12478551" cy="5445337"/>
            </a:xfrm>
            <a:prstGeom prst="rect">
              <a:avLst/>
            </a:prstGeom>
          </p:spPr>
          <p:txBody>
            <a:bodyPr lIns="0" tIns="0" rIns="0" bIns="0" rtlCol="0" anchor="t">
              <a:spAutoFit/>
            </a:bodyPr>
            <a:lstStyle/>
            <a:p>
              <a:pPr marL="626111" lvl="1" indent="-313055">
                <a:lnSpc>
                  <a:spcPts val="4060"/>
                </a:lnSpc>
                <a:buFont typeface="Arial"/>
                <a:buChar char="•"/>
              </a:pPr>
              <a:r>
                <a:rPr lang="en-US" sz="2900">
                  <a:solidFill>
                    <a:srgbClr val="2B4B82"/>
                  </a:solidFill>
                  <a:latin typeface="Clear Sans Regular"/>
                </a:rPr>
                <a:t>The Transactional Outbox pattern is often used in scenarios where multiple services need to be notified or updated when a particular action occurs in a system. Instead of directly sending messages to these services, the pattern employs an outbox table in the same database transaction as the business logic that triggers the messages. The outbox table acts as a buffer for outgoing messages.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627676" y="1028700"/>
          <a:ext cx="8900153" cy="8628456"/>
        </p:xfrm>
        <a:graphic>
          <a:graphicData uri="http://schemas.openxmlformats.org/drawingml/2006/table">
            <a:tbl>
              <a:tblPr/>
              <a:tblGrid>
                <a:gridCol w="8900153"/>
              </a:tblGrid>
              <a:tr h="3407708">
                <a:tc>
                  <a:txBody>
                    <a:bodyPr/>
                    <a:lstStyle/>
                    <a:p>
                      <a:pPr algn="l">
                        <a:lnSpc>
                          <a:spcPts val="7420"/>
                        </a:lnSpc>
                        <a:defRPr/>
                      </a:pPr>
                      <a:r>
                        <a:rPr lang="en-US" sz="5300">
                          <a:solidFill>
                            <a:srgbClr val="F7B4A7"/>
                          </a:solidFill>
                          <a:latin typeface="Clear Sans Bold Bold"/>
                        </a:rPr>
                        <a:t>Here's an overview of the pattern and its implementation:</a:t>
                      </a:r>
                      <a:endParaRPr lang="en-US" sz="1100"/>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tr>
              <a:tr h="1046310">
                <a:tc>
                  <a:txBody>
                    <a:bodyPr/>
                    <a:lstStyle/>
                    <a:p>
                      <a:pPr algn="l">
                        <a:lnSpc>
                          <a:spcPts val="4060"/>
                        </a:lnSpc>
                        <a:defRPr/>
                      </a:pPr>
                      <a:endParaRPr lang="en-US" sz="1100"/>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tr>
              <a:tr h="4174438">
                <a:tc>
                  <a:txBody>
                    <a:bodyPr/>
                    <a:lstStyle/>
                    <a:p>
                      <a:pPr marL="734058" lvl="1" indent="-367029" algn="l">
                        <a:lnSpc>
                          <a:spcPts val="4759"/>
                        </a:lnSpc>
                        <a:buFont typeface="Arial"/>
                        <a:buChar char="•"/>
                        <a:defRPr/>
                      </a:pPr>
                      <a:r>
                        <a:rPr lang="en-US" sz="3399">
                          <a:solidFill>
                            <a:srgbClr val="94DDDE"/>
                          </a:solidFill>
                          <a:latin typeface="Clear Sans Regular Bold"/>
                        </a:rPr>
                        <a:t>Business Transaction</a:t>
                      </a:r>
                      <a:endParaRPr lang="en-US" sz="1100"/>
                    </a:p>
                    <a:p>
                      <a:pPr marL="734058" lvl="1" indent="-367029">
                        <a:lnSpc>
                          <a:spcPts val="4759"/>
                        </a:lnSpc>
                        <a:buFont typeface="Arial"/>
                        <a:buChar char="•"/>
                      </a:pPr>
                      <a:r>
                        <a:rPr lang="en-US" sz="3399">
                          <a:solidFill>
                            <a:srgbClr val="94DDDE"/>
                          </a:solidFill>
                          <a:latin typeface="Clear Sans Regular Bold"/>
                        </a:rPr>
                        <a:t>Outbox Table</a:t>
                      </a:r>
                    </a:p>
                    <a:p>
                      <a:pPr marL="734058" lvl="1" indent="-367029">
                        <a:lnSpc>
                          <a:spcPts val="4759"/>
                        </a:lnSpc>
                        <a:buFont typeface="Arial"/>
                        <a:buChar char="•"/>
                      </a:pPr>
                      <a:r>
                        <a:rPr lang="en-US" sz="3399">
                          <a:solidFill>
                            <a:srgbClr val="94DDDE"/>
                          </a:solidFill>
                          <a:latin typeface="Clear Sans Regular Bold"/>
                        </a:rPr>
                        <a:t>Transactional Insert</a:t>
                      </a:r>
                    </a:p>
                    <a:p>
                      <a:pPr marL="734058" lvl="1" indent="-367029">
                        <a:lnSpc>
                          <a:spcPts val="4759"/>
                        </a:lnSpc>
                        <a:buFont typeface="Arial"/>
                        <a:buChar char="•"/>
                      </a:pPr>
                      <a:r>
                        <a:rPr lang="en-US" sz="3399">
                          <a:solidFill>
                            <a:srgbClr val="94DDDE"/>
                          </a:solidFill>
                          <a:latin typeface="Clear Sans Regular Bold"/>
                        </a:rPr>
                        <a:t>Message Dispatcher</a:t>
                      </a:r>
                    </a:p>
                    <a:p>
                      <a:pPr marL="734058" lvl="1" indent="-367029">
                        <a:lnSpc>
                          <a:spcPts val="4759"/>
                        </a:lnSpc>
                        <a:buFont typeface="Arial"/>
                        <a:buChar char="•"/>
                      </a:pPr>
                      <a:r>
                        <a:rPr lang="en-US" sz="3399">
                          <a:solidFill>
                            <a:srgbClr val="94DDDE"/>
                          </a:solidFill>
                          <a:latin typeface="Clear Sans Regular Bold"/>
                        </a:rPr>
                        <a:t>Message Delivery</a:t>
                      </a:r>
                    </a:p>
                    <a:p>
                      <a:pPr marL="734058" lvl="1" indent="-367029">
                        <a:lnSpc>
                          <a:spcPts val="4759"/>
                        </a:lnSpc>
                        <a:buFont typeface="Arial"/>
                        <a:buChar char="•"/>
                      </a:pPr>
                      <a:r>
                        <a:rPr lang="en-US" sz="3399">
                          <a:solidFill>
                            <a:srgbClr val="94DDDE"/>
                          </a:solidFill>
                          <a:latin typeface="Clear Sans Regular Bold"/>
                        </a:rPr>
                        <a:t>Outbox Cleanup</a:t>
                      </a:r>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tr>
            </a:tbl>
          </a:graphicData>
        </a:graphic>
      </p:graphicFrame>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796368" y="1775139"/>
            <a:ext cx="4631638" cy="71355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655666" y="-963412"/>
            <a:ext cx="4597438" cy="2842053"/>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flipH="1">
            <a:off x="11207503" y="390596"/>
            <a:ext cx="2076668" cy="1276207"/>
          </a:xfrm>
          <a:prstGeom prst="rect">
            <a:avLst/>
          </a:prstGeom>
        </p:spPr>
      </p:pic>
      <p:pic>
        <p:nvPicPr>
          <p:cNvPr id="4" name="Picture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3794348" y="-2447996"/>
            <a:ext cx="3837986" cy="4114800"/>
          </a:xfrm>
          <a:prstGeom prst="rect">
            <a:avLst/>
          </a:prstGeom>
        </p:spPr>
      </p:pic>
      <p:pic>
        <p:nvPicPr>
          <p:cNvPr id="5" name="Picture 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a:off x="5649912" y="-3759204"/>
            <a:ext cx="5357753" cy="5591583"/>
          </a:xfrm>
          <a:prstGeom prst="rect">
            <a:avLst/>
          </a:prstGeom>
        </p:spPr>
      </p:pic>
      <p:graphicFrame>
        <p:nvGraphicFramePr>
          <p:cNvPr id="6" name="Table 6"/>
          <p:cNvGraphicFramePr>
            <a:graphicFrameLocks noGrp="1"/>
          </p:cNvGraphicFramePr>
          <p:nvPr/>
        </p:nvGraphicFramePr>
        <p:xfrm>
          <a:off x="1028700" y="2709563"/>
          <a:ext cx="16230600" cy="6755103"/>
        </p:xfrm>
        <a:graphic>
          <a:graphicData uri="http://schemas.openxmlformats.org/drawingml/2006/table">
            <a:tbl>
              <a:tblPr/>
              <a:tblGrid>
                <a:gridCol w="8309251"/>
                <a:gridCol w="7921349"/>
              </a:tblGrid>
              <a:tr h="2430387">
                <a:tc>
                  <a:txBody>
                    <a:bodyPr/>
                    <a:lstStyle/>
                    <a:p>
                      <a:pPr algn="ctr">
                        <a:lnSpc>
                          <a:spcPts val="6600"/>
                        </a:lnSpc>
                        <a:defRPr/>
                      </a:pPr>
                      <a:r>
                        <a:rPr lang="en-US" sz="5500">
                          <a:solidFill>
                            <a:srgbClr val="2B4B82"/>
                          </a:solidFill>
                          <a:latin typeface="Clear Sans Bold Bold"/>
                        </a:rPr>
                        <a:t>Business Transaction:</a:t>
                      </a: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c>
                  <a:txBody>
                    <a:bodyPr/>
                    <a:lstStyle/>
                    <a:p>
                      <a:pPr algn="ctr">
                        <a:lnSpc>
                          <a:spcPts val="6720"/>
                        </a:lnSpc>
                        <a:defRPr/>
                      </a:pPr>
                      <a:r>
                        <a:rPr lang="en-US" sz="5600">
                          <a:solidFill>
                            <a:srgbClr val="2B4B82"/>
                          </a:solidFill>
                          <a:latin typeface="Clear Sans Bold"/>
                        </a:rPr>
                        <a:t>Outbox Table:</a:t>
                      </a:r>
                      <a:endParaRPr lang="en-US" sz="1100"/>
                    </a:p>
                    <a:p>
                      <a:pPr algn="ctr">
                        <a:lnSpc>
                          <a:spcPts val="6720"/>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r>
              <a:tr h="4324717">
                <a:tc>
                  <a:txBody>
                    <a:bodyPr/>
                    <a:lstStyle/>
                    <a:p>
                      <a:pPr marL="518160" lvl="1" indent="-259080" algn="l">
                        <a:lnSpc>
                          <a:spcPts val="3359"/>
                        </a:lnSpc>
                        <a:buFont typeface="Arial"/>
                        <a:buChar char="•"/>
                        <a:defRPr/>
                      </a:pPr>
                      <a:r>
                        <a:rPr lang="en-US" sz="2400">
                          <a:solidFill>
                            <a:srgbClr val="2B4B82"/>
                          </a:solidFill>
                          <a:latin typeface="Clear Sans Regular"/>
                        </a:rPr>
                        <a:t>The pattern is typically used in the context of a business transaction. When a transactional operation occurs within a service or application, such as updating a database record, the relevant information for message generation is captured.</a:t>
                      </a:r>
                      <a:endParaRPr lang="en-US" sz="1100"/>
                    </a:p>
                    <a:p>
                      <a:pPr>
                        <a:lnSpc>
                          <a:spcPts val="3359"/>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c>
                  <a:txBody>
                    <a:bodyPr/>
                    <a:lstStyle/>
                    <a:p>
                      <a:pPr marL="518160" lvl="1" indent="-259080" algn="l">
                        <a:lnSpc>
                          <a:spcPts val="3359"/>
                        </a:lnSpc>
                        <a:buFont typeface="Arial"/>
                        <a:buChar char="•"/>
                        <a:defRPr/>
                      </a:pPr>
                      <a:r>
                        <a:rPr lang="en-US" sz="2400">
                          <a:solidFill>
                            <a:srgbClr val="2B4B82"/>
                          </a:solidFill>
                          <a:latin typeface="Clear Sans Regular"/>
                        </a:rPr>
                        <a:t>Alongside the business transaction, an outbox table is maintained in the same database. This table acts as a persistent store for outgoing messages. It contains the necessary information to construct the messages, such as message content, destination, and metadata.</a:t>
                      </a:r>
                      <a:endParaRPr lang="en-US" sz="1100"/>
                    </a:p>
                    <a:p>
                      <a:pPr>
                        <a:lnSpc>
                          <a:spcPts val="3359"/>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655666" y="-963412"/>
            <a:ext cx="4597438" cy="2842053"/>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flipH="1">
            <a:off x="11207503" y="390596"/>
            <a:ext cx="2076668" cy="1276207"/>
          </a:xfrm>
          <a:prstGeom prst="rect">
            <a:avLst/>
          </a:prstGeom>
        </p:spPr>
      </p:pic>
      <p:pic>
        <p:nvPicPr>
          <p:cNvPr id="4" name="Picture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3794348" y="-2447996"/>
            <a:ext cx="3837986" cy="4114800"/>
          </a:xfrm>
          <a:prstGeom prst="rect">
            <a:avLst/>
          </a:prstGeom>
        </p:spPr>
      </p:pic>
      <p:pic>
        <p:nvPicPr>
          <p:cNvPr id="5" name="Picture 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a:off x="5649912" y="-3759204"/>
            <a:ext cx="5357753" cy="5591583"/>
          </a:xfrm>
          <a:prstGeom prst="rect">
            <a:avLst/>
          </a:prstGeom>
        </p:spPr>
      </p:pic>
      <p:graphicFrame>
        <p:nvGraphicFramePr>
          <p:cNvPr id="6" name="Table 6"/>
          <p:cNvGraphicFramePr>
            <a:graphicFrameLocks noGrp="1"/>
          </p:cNvGraphicFramePr>
          <p:nvPr/>
        </p:nvGraphicFramePr>
        <p:xfrm>
          <a:off x="1028700" y="2709563"/>
          <a:ext cx="16230600" cy="6755103"/>
        </p:xfrm>
        <a:graphic>
          <a:graphicData uri="http://schemas.openxmlformats.org/drawingml/2006/table">
            <a:tbl>
              <a:tblPr/>
              <a:tblGrid>
                <a:gridCol w="8309251"/>
                <a:gridCol w="7921349"/>
              </a:tblGrid>
              <a:tr h="2430387">
                <a:tc>
                  <a:txBody>
                    <a:bodyPr/>
                    <a:lstStyle/>
                    <a:p>
                      <a:pPr algn="ctr">
                        <a:lnSpc>
                          <a:spcPts val="6600"/>
                        </a:lnSpc>
                        <a:defRPr/>
                      </a:pPr>
                      <a:r>
                        <a:rPr lang="en-US" sz="5500">
                          <a:solidFill>
                            <a:srgbClr val="2B4B82"/>
                          </a:solidFill>
                          <a:latin typeface="Clear Sans Bold Bold"/>
                        </a:rPr>
                        <a:t>Message Dispatcher:</a:t>
                      </a:r>
                      <a:endParaRPr lang="en-US" sz="1100"/>
                    </a:p>
                    <a:p>
                      <a:pPr algn="ctr">
                        <a:lnSpc>
                          <a:spcPts val="6600"/>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c>
                  <a:txBody>
                    <a:bodyPr/>
                    <a:lstStyle/>
                    <a:p>
                      <a:pPr algn="ctr">
                        <a:lnSpc>
                          <a:spcPts val="6720"/>
                        </a:lnSpc>
                        <a:defRPr/>
                      </a:pPr>
                      <a:r>
                        <a:rPr lang="en-US" sz="5600">
                          <a:solidFill>
                            <a:srgbClr val="2B4B82"/>
                          </a:solidFill>
                          <a:latin typeface="Clear Sans Bold"/>
                        </a:rPr>
                        <a:t>Message Delivery:</a:t>
                      </a:r>
                      <a:endParaRPr lang="en-US" sz="1100"/>
                    </a:p>
                    <a:p>
                      <a:pPr algn="ctr">
                        <a:lnSpc>
                          <a:spcPts val="6720"/>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r>
              <a:tr h="4324717">
                <a:tc>
                  <a:txBody>
                    <a:bodyPr/>
                    <a:lstStyle/>
                    <a:p>
                      <a:pPr marL="518160" lvl="1" indent="-259080" algn="l">
                        <a:lnSpc>
                          <a:spcPts val="3359"/>
                        </a:lnSpc>
                        <a:buFont typeface="Arial"/>
                        <a:buChar char="•"/>
                        <a:defRPr/>
                      </a:pPr>
                      <a:r>
                        <a:rPr lang="en-US" sz="2400">
                          <a:solidFill>
                            <a:srgbClr val="2B4B82"/>
                          </a:solidFill>
                          <a:latin typeface="Clear Sans Regular"/>
                        </a:rPr>
                        <a:t>A separate component, known as the Message Dispatcher, periodically polls the outbox table to check for new messages. It retrieves the pending messages and sends them to their intended destinations. The dispatcher can be a standalone service or part of an existing service, responsible for sending messages asynchronously.</a:t>
                      </a:r>
                      <a:endParaRPr lang="en-US" sz="1100"/>
                    </a:p>
                    <a:p>
                      <a:pPr>
                        <a:lnSpc>
                          <a:spcPts val="3359"/>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c>
                  <a:txBody>
                    <a:bodyPr/>
                    <a:lstStyle/>
                    <a:p>
                      <a:pPr marL="518160" lvl="1" indent="-259080" algn="l">
                        <a:lnSpc>
                          <a:spcPts val="3359"/>
                        </a:lnSpc>
                        <a:buFont typeface="Arial"/>
                        <a:buChar char="•"/>
                        <a:defRPr/>
                      </a:pPr>
                      <a:r>
                        <a:rPr lang="en-US" sz="2400">
                          <a:solidFill>
                            <a:srgbClr val="2B4B82"/>
                          </a:solidFill>
                          <a:latin typeface="Clear Sans Regular"/>
                        </a:rPr>
                        <a:t>The Message Dispatcher ensures reliable message delivery by employing appropriate mechanisms such as retries, acknowledgments, and error handling. It communicates with the external services or message brokers to send the messages securely and reliably.</a:t>
                      </a:r>
                      <a:endParaRPr lang="en-US" sz="1100"/>
                    </a:p>
                    <a:p>
                      <a:pPr>
                        <a:lnSpc>
                          <a:spcPts val="3359"/>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655666" y="-963412"/>
            <a:ext cx="4597438" cy="2842053"/>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flipH="1">
            <a:off x="11207503" y="390596"/>
            <a:ext cx="2076668" cy="1276207"/>
          </a:xfrm>
          <a:prstGeom prst="rect">
            <a:avLst/>
          </a:prstGeom>
        </p:spPr>
      </p:pic>
      <p:pic>
        <p:nvPicPr>
          <p:cNvPr id="4" name="Picture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3794348" y="-2447996"/>
            <a:ext cx="3837986" cy="4114800"/>
          </a:xfrm>
          <a:prstGeom prst="rect">
            <a:avLst/>
          </a:prstGeom>
        </p:spPr>
      </p:pic>
      <p:pic>
        <p:nvPicPr>
          <p:cNvPr id="5" name="Picture 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a:off x="5649912" y="-3759204"/>
            <a:ext cx="5357753" cy="5591583"/>
          </a:xfrm>
          <a:prstGeom prst="rect">
            <a:avLst/>
          </a:prstGeom>
        </p:spPr>
      </p:pic>
      <p:graphicFrame>
        <p:nvGraphicFramePr>
          <p:cNvPr id="6" name="Table 6"/>
          <p:cNvGraphicFramePr>
            <a:graphicFrameLocks noGrp="1"/>
          </p:cNvGraphicFramePr>
          <p:nvPr/>
        </p:nvGraphicFramePr>
        <p:xfrm>
          <a:off x="1028700" y="2709563"/>
          <a:ext cx="16230600" cy="6755103"/>
        </p:xfrm>
        <a:graphic>
          <a:graphicData uri="http://schemas.openxmlformats.org/drawingml/2006/table">
            <a:tbl>
              <a:tblPr/>
              <a:tblGrid>
                <a:gridCol w="8309251"/>
                <a:gridCol w="7921349"/>
              </a:tblGrid>
              <a:tr h="2430387">
                <a:tc>
                  <a:txBody>
                    <a:bodyPr/>
                    <a:lstStyle/>
                    <a:p>
                      <a:pPr algn="ctr">
                        <a:lnSpc>
                          <a:spcPts val="6600"/>
                        </a:lnSpc>
                        <a:defRPr/>
                      </a:pPr>
                      <a:r>
                        <a:rPr lang="en-US" sz="5500">
                          <a:solidFill>
                            <a:srgbClr val="2B4B82"/>
                          </a:solidFill>
                          <a:latin typeface="Clear Sans Bold Bold"/>
                        </a:rPr>
                        <a:t>Transactional Insert:</a:t>
                      </a: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c>
                  <a:txBody>
                    <a:bodyPr/>
                    <a:lstStyle/>
                    <a:p>
                      <a:pPr algn="ctr">
                        <a:lnSpc>
                          <a:spcPts val="6720"/>
                        </a:lnSpc>
                        <a:defRPr/>
                      </a:pPr>
                      <a:r>
                        <a:rPr lang="en-US" sz="5600">
                          <a:solidFill>
                            <a:srgbClr val="2B4B82"/>
                          </a:solidFill>
                          <a:latin typeface="Clear Sans Bold"/>
                        </a:rPr>
                        <a:t>Outbox Cleanup:</a:t>
                      </a:r>
                      <a:endParaRPr lang="en-US" sz="1100"/>
                    </a:p>
                    <a:p>
                      <a:pPr algn="ctr">
                        <a:lnSpc>
                          <a:spcPts val="6720"/>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r>
              <a:tr h="4324717">
                <a:tc>
                  <a:txBody>
                    <a:bodyPr/>
                    <a:lstStyle/>
                    <a:p>
                      <a:pPr marL="518160" lvl="1" indent="-259080" algn="l">
                        <a:lnSpc>
                          <a:spcPts val="3359"/>
                        </a:lnSpc>
                        <a:buFont typeface="Arial"/>
                        <a:buChar char="•"/>
                        <a:defRPr/>
                      </a:pPr>
                      <a:r>
                        <a:rPr lang="en-US" sz="2400">
                          <a:solidFill>
                            <a:srgbClr val="2B4B82"/>
                          </a:solidFill>
                          <a:latin typeface="Clear Sans Regular"/>
                        </a:rPr>
                        <a:t>During the database transaction, a new row is inserted into the outbox table, representing the outgoing message. The message is constructed based on the relevant information from the business transaction.</a:t>
                      </a:r>
                      <a:endParaRPr lang="en-US" sz="1100"/>
                    </a:p>
                    <a:p>
                      <a:pPr>
                        <a:lnSpc>
                          <a:spcPts val="3359"/>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c>
                  <a:txBody>
                    <a:bodyPr/>
                    <a:lstStyle/>
                    <a:p>
                      <a:pPr marL="518160" lvl="1" indent="-259080" algn="l">
                        <a:lnSpc>
                          <a:spcPts val="3359"/>
                        </a:lnSpc>
                        <a:buFont typeface="Arial"/>
                        <a:buChar char="•"/>
                        <a:defRPr/>
                      </a:pPr>
                      <a:r>
                        <a:rPr lang="en-US" sz="2400">
                          <a:solidFill>
                            <a:srgbClr val="2B4B82"/>
                          </a:solidFill>
                          <a:latin typeface="Clear Sans Regular"/>
                        </a:rPr>
                        <a:t>Once a message has been successfully dispatched, it can be marked as processed or deleted from the outbox table to prevent duplicate processing. Alternatively, a separate cleanup process can periodically remove processed messages from the table.</a:t>
                      </a:r>
                      <a:endParaRPr lang="en-US" sz="1100"/>
                    </a:p>
                    <a:p>
                      <a:pPr>
                        <a:lnSpc>
                          <a:spcPts val="3359"/>
                        </a:lnSpc>
                      </a:pPr>
                      <a:endParaRPr lang="en-US" sz="1100"/>
                    </a:p>
                  </a:txBody>
                  <a:tcPr marL="190500" marR="190500" marT="190500" marB="190500">
                    <a:lnL w="57150" cap="flat" cmpd="sng" algn="ctr">
                      <a:solidFill>
                        <a:srgbClr val="FEFEFE"/>
                      </a:solidFill>
                      <a:prstDash val="solid"/>
                      <a:round/>
                      <a:headEnd type="none" w="med" len="med"/>
                      <a:tailEnd type="none" w="med" len="med"/>
                    </a:lnL>
                    <a:lnR w="57150" cap="flat" cmpd="sng" algn="ctr">
                      <a:solidFill>
                        <a:srgbClr val="FEFEFE"/>
                      </a:solidFill>
                      <a:prstDash val="solid"/>
                      <a:round/>
                      <a:headEnd type="none" w="med" len="med"/>
                      <a:tailEnd type="none" w="med" len="med"/>
                    </a:lnR>
                    <a:lnT w="57150" cap="flat" cmpd="sng" algn="ctr">
                      <a:solidFill>
                        <a:srgbClr val="FEFEFE"/>
                      </a:solidFill>
                      <a:prstDash val="solid"/>
                      <a:round/>
                      <a:headEnd type="none" w="med" len="med"/>
                      <a:tailEnd type="none" w="med" len="med"/>
                    </a:lnT>
                    <a:lnB w="57150" cap="flat" cmpd="sng" algn="ctr">
                      <a:solidFill>
                        <a:srgbClr val="FEFEFE"/>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7773623" y="1058285"/>
          <a:ext cx="9485677" cy="8833980"/>
        </p:xfrm>
        <a:graphic>
          <a:graphicData uri="http://schemas.openxmlformats.org/drawingml/2006/table">
            <a:tbl>
              <a:tblPr/>
              <a:tblGrid>
                <a:gridCol w="9485677"/>
              </a:tblGrid>
              <a:tr h="1059788">
                <a:tc>
                  <a:txBody>
                    <a:bodyPr/>
                    <a:lstStyle/>
                    <a:p>
                      <a:pPr algn="l">
                        <a:lnSpc>
                          <a:spcPts val="3919"/>
                        </a:lnSpc>
                        <a:defRPr/>
                      </a:pPr>
                      <a:r>
                        <a:rPr lang="en-US" sz="2799">
                          <a:solidFill>
                            <a:srgbClr val="F7B4A7"/>
                          </a:solidFill>
                          <a:latin typeface="Clear Sans Bold Bold"/>
                        </a:rPr>
                        <a:t>Message Dispatcher:</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tr>
              <a:tr h="1742946">
                <a:tc>
                  <a:txBody>
                    <a:bodyPr/>
                    <a:lstStyle/>
                    <a:p>
                      <a:pPr algn="l">
                        <a:lnSpc>
                          <a:spcPts val="3359"/>
                        </a:lnSpc>
                        <a:defRPr/>
                      </a:pPr>
                      <a:r>
                        <a:rPr lang="en-US" sz="2400">
                          <a:solidFill>
                            <a:srgbClr val="FEFEFE"/>
                          </a:solidFill>
                          <a:latin typeface="Clear Sans Regular"/>
                        </a:rPr>
                        <a:t>which periodically polls the outbox table to retrieve pending messages. the dispatcher is responsible for sending the messages asynchronously to their intended destinations.</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19050" cap="flat" cmpd="sng" algn="ctr">
                      <a:solidFill>
                        <a:srgbClr val="FEFEFE"/>
                      </a:solidFill>
                      <a:prstDash val="solid"/>
                      <a:round/>
                      <a:headEnd type="none" w="med" len="med"/>
                      <a:tailEnd type="none" w="med" len="med"/>
                    </a:lnB>
                  </a:tcPr>
                </a:tc>
              </a:tr>
              <a:tr h="1068982">
                <a:tc>
                  <a:txBody>
                    <a:bodyPr/>
                    <a:lstStyle/>
                    <a:p>
                      <a:pPr algn="l">
                        <a:lnSpc>
                          <a:spcPts val="3919"/>
                        </a:lnSpc>
                        <a:defRPr/>
                      </a:pPr>
                      <a:r>
                        <a:rPr lang="en-US" sz="2799">
                          <a:solidFill>
                            <a:srgbClr val="F7B4A7"/>
                          </a:solidFill>
                          <a:latin typeface="Clear Sans Bold Bold"/>
                        </a:rPr>
                        <a:t>Message Delivery:</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19050" cap="flat" cmpd="sng" algn="ctr">
                      <a:solidFill>
                        <a:srgbClr val="FEFEFE"/>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tr>
              <a:tr h="2164318">
                <a:tc>
                  <a:txBody>
                    <a:bodyPr/>
                    <a:lstStyle/>
                    <a:p>
                      <a:pPr algn="l">
                        <a:lnSpc>
                          <a:spcPts val="3359"/>
                        </a:lnSpc>
                        <a:defRPr/>
                      </a:pPr>
                      <a:r>
                        <a:rPr lang="en-US" sz="2400">
                          <a:solidFill>
                            <a:srgbClr val="FEFEFE"/>
                          </a:solidFill>
                          <a:latin typeface="Clear Sans Regular"/>
                        </a:rPr>
                        <a:t> to ensure reliable message delivery, such as retries, acknowledgments, and error handling. Highlight that the dispatcher communicates with external services or message brokers to send the messages securely and reliably.</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19050" cap="flat" cmpd="sng" algn="ctr">
                      <a:solidFill>
                        <a:srgbClr val="FEFEFE"/>
                      </a:solidFill>
                      <a:prstDash val="solid"/>
                      <a:round/>
                      <a:headEnd type="none" w="med" len="med"/>
                      <a:tailEnd type="none" w="med" len="med"/>
                    </a:lnB>
                  </a:tcPr>
                </a:tc>
              </a:tr>
              <a:tr h="1045423">
                <a:tc>
                  <a:txBody>
                    <a:bodyPr/>
                    <a:lstStyle/>
                    <a:p>
                      <a:pPr algn="l">
                        <a:lnSpc>
                          <a:spcPts val="3919"/>
                        </a:lnSpc>
                        <a:defRPr/>
                      </a:pPr>
                      <a:r>
                        <a:rPr lang="en-US" sz="2799">
                          <a:solidFill>
                            <a:srgbClr val="F7B4A7"/>
                          </a:solidFill>
                          <a:latin typeface="Clear Sans Bold Bold"/>
                        </a:rPr>
                        <a:t>Outbox Cleanup﻿: </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19050" cap="flat" cmpd="sng" algn="ctr">
                      <a:solidFill>
                        <a:srgbClr val="FEFEFE"/>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tr>
              <a:tr h="1752523">
                <a:tc>
                  <a:txBody>
                    <a:bodyPr/>
                    <a:lstStyle/>
                    <a:p>
                      <a:pPr algn="l">
                        <a:lnSpc>
                          <a:spcPts val="3359"/>
                        </a:lnSpc>
                        <a:defRPr/>
                      </a:pPr>
                      <a:r>
                        <a:rPr lang="en-US" sz="2400">
                          <a:solidFill>
                            <a:srgbClr val="FEFEFE"/>
                          </a:solidFill>
                          <a:latin typeface="Clear Sans Regular"/>
                        </a:rPr>
                        <a:t>messages can be marked as such or deleted from the outbox table to prevent duplicate processing. a separate cleanup process can periodically remove processed messages.</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tr>
            </a:tbl>
          </a:graphicData>
        </a:graphic>
      </p:graphicFrame>
      <p:grpSp>
        <p:nvGrpSpPr>
          <p:cNvPr id="3" name="Group 3"/>
          <p:cNvGrpSpPr/>
          <p:nvPr/>
        </p:nvGrpSpPr>
        <p:grpSpPr>
          <a:xfrm>
            <a:off x="697271" y="3117364"/>
            <a:ext cx="6719927" cy="4052272"/>
            <a:chOff x="0" y="0"/>
            <a:chExt cx="8959902" cy="5403030"/>
          </a:xfrm>
        </p:grpSpPr>
        <p:sp>
          <p:nvSpPr>
            <p:cNvPr id="4" name="TextBox 4"/>
            <p:cNvSpPr txBox="1"/>
            <p:nvPr/>
          </p:nvSpPr>
          <p:spPr>
            <a:xfrm>
              <a:off x="0" y="66675"/>
              <a:ext cx="8959902" cy="4179100"/>
            </a:xfrm>
            <a:prstGeom prst="rect">
              <a:avLst/>
            </a:prstGeom>
          </p:spPr>
          <p:txBody>
            <a:bodyPr lIns="0" tIns="0" rIns="0" bIns="0" rtlCol="0" anchor="t">
              <a:spAutoFit/>
            </a:bodyPr>
            <a:lstStyle/>
            <a:p>
              <a:pPr algn="ctr">
                <a:lnSpc>
                  <a:spcPts val="4889"/>
                </a:lnSpc>
              </a:pPr>
              <a:r>
                <a:rPr lang="en-US" sz="4656">
                  <a:solidFill>
                    <a:srgbClr val="94DDDE"/>
                  </a:solidFill>
                  <a:latin typeface="Clear Sans Bold Bold"/>
                </a:rPr>
                <a:t>Pattern Components: Describe the key components of the Transactional Outbox pattern and their roles:</a:t>
              </a:r>
            </a:p>
          </p:txBody>
        </p:sp>
        <p:sp>
          <p:nvSpPr>
            <p:cNvPr id="5" name="TextBox 5"/>
            <p:cNvSpPr txBox="1"/>
            <p:nvPr/>
          </p:nvSpPr>
          <p:spPr>
            <a:xfrm>
              <a:off x="0" y="4652340"/>
              <a:ext cx="6952707" cy="750690"/>
            </a:xfrm>
            <a:prstGeom prst="rect">
              <a:avLst/>
            </a:prstGeom>
          </p:spPr>
          <p:txBody>
            <a:bodyPr lIns="0" tIns="0" rIns="0" bIns="0" rtlCol="0" anchor="t">
              <a:spAutoFit/>
            </a:bodyPr>
            <a:lstStyle/>
            <a:p>
              <a:pPr>
                <a:lnSpc>
                  <a:spcPts val="4726"/>
                </a:lnSpc>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7773623" y="1058285"/>
          <a:ext cx="9485677" cy="8414880"/>
        </p:xfrm>
        <a:graphic>
          <a:graphicData uri="http://schemas.openxmlformats.org/drawingml/2006/table">
            <a:tbl>
              <a:tblPr/>
              <a:tblGrid>
                <a:gridCol w="9485677"/>
              </a:tblGrid>
              <a:tr h="1060074">
                <a:tc>
                  <a:txBody>
                    <a:bodyPr/>
                    <a:lstStyle/>
                    <a:p>
                      <a:pPr algn="l">
                        <a:lnSpc>
                          <a:spcPts val="3919"/>
                        </a:lnSpc>
                        <a:defRPr/>
                      </a:pPr>
                      <a:r>
                        <a:rPr lang="en-US" sz="2799">
                          <a:solidFill>
                            <a:srgbClr val="F7B4A7"/>
                          </a:solidFill>
                          <a:latin typeface="Clear Sans Bold Bold"/>
                        </a:rPr>
                        <a:t>Business﻿ Transaction:</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tr>
              <a:tr h="1743417">
                <a:tc>
                  <a:txBody>
                    <a:bodyPr/>
                    <a:lstStyle/>
                    <a:p>
                      <a:pPr algn="l">
                        <a:lnSpc>
                          <a:spcPts val="3359"/>
                        </a:lnSpc>
                        <a:defRPr/>
                      </a:pPr>
                      <a:r>
                        <a:rPr lang="en-US" sz="2400">
                          <a:solidFill>
                            <a:srgbClr val="FEFEFE"/>
                          </a:solidFill>
                          <a:latin typeface="Clear Sans Regular"/>
                        </a:rPr>
                        <a:t>Explain that the pattern is used in the context of a business transaction, where a particular operation triggers the need for message generation.</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19050" cap="flat" cmpd="sng" algn="ctr">
                      <a:solidFill>
                        <a:srgbClr val="FEFEFE"/>
                      </a:solidFill>
                      <a:prstDash val="solid"/>
                      <a:round/>
                      <a:headEnd type="none" w="med" len="med"/>
                      <a:tailEnd type="none" w="med" len="med"/>
                    </a:lnB>
                  </a:tcPr>
                </a:tc>
              </a:tr>
              <a:tr h="1069270">
                <a:tc>
                  <a:txBody>
                    <a:bodyPr/>
                    <a:lstStyle/>
                    <a:p>
                      <a:pPr algn="l">
                        <a:lnSpc>
                          <a:spcPts val="3919"/>
                        </a:lnSpc>
                        <a:defRPr/>
                      </a:pPr>
                      <a:r>
                        <a:rPr lang="en-US" sz="2799">
                          <a:solidFill>
                            <a:srgbClr val="F7B4A7"/>
                          </a:solidFill>
                          <a:latin typeface="Clear Sans Bold Bold"/>
                        </a:rPr>
                        <a:t>Outbox Tabl﻿e:</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19050" cap="flat" cmpd="sng" algn="ctr">
                      <a:solidFill>
                        <a:srgbClr val="FEFEFE"/>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tr>
              <a:tr h="1743417">
                <a:tc>
                  <a:txBody>
                    <a:bodyPr/>
                    <a:lstStyle/>
                    <a:p>
                      <a:pPr algn="l">
                        <a:lnSpc>
                          <a:spcPts val="3359"/>
                        </a:lnSpc>
                        <a:defRPr/>
                      </a:pPr>
                      <a:r>
                        <a:rPr lang="en-US" sz="2400">
                          <a:solidFill>
                            <a:srgbClr val="FEFEFE"/>
                          </a:solidFill>
                          <a:latin typeface="Clear Sans Regular"/>
                        </a:rPr>
                        <a:t>Acts as a persistent store for outgoing messages. Contains the necessary information for constructing messages, such as content, destination, and metadata.</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19050" cap="flat" cmpd="sng" algn="ctr">
                      <a:solidFill>
                        <a:srgbClr val="FEFEFE"/>
                      </a:solidFill>
                      <a:prstDash val="solid"/>
                      <a:round/>
                      <a:headEnd type="none" w="med" len="med"/>
                      <a:tailEnd type="none" w="med" len="med"/>
                    </a:lnB>
                  </a:tcPr>
                </a:tc>
              </a:tr>
              <a:tr h="1045705">
                <a:tc>
                  <a:txBody>
                    <a:bodyPr/>
                    <a:lstStyle/>
                    <a:p>
                      <a:pPr algn="l">
                        <a:lnSpc>
                          <a:spcPts val="3919"/>
                        </a:lnSpc>
                        <a:defRPr/>
                      </a:pPr>
                      <a:r>
                        <a:rPr lang="en-US" sz="2799">
                          <a:solidFill>
                            <a:srgbClr val="F7B4A7"/>
                          </a:solidFill>
                          <a:latin typeface="Clear Sans Bold Bold"/>
                        </a:rPr>
                        <a:t>Transactional Insert:</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19050" cap="flat" cmpd="sng" algn="ctr">
                      <a:solidFill>
                        <a:srgbClr val="FEFEFE"/>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tr>
              <a:tr h="1752996">
                <a:tc>
                  <a:txBody>
                    <a:bodyPr/>
                    <a:lstStyle/>
                    <a:p>
                      <a:pPr algn="l">
                        <a:lnSpc>
                          <a:spcPts val="3359"/>
                        </a:lnSpc>
                        <a:defRPr/>
                      </a:pPr>
                      <a:r>
                        <a:rPr lang="en-US" sz="2400">
                          <a:solidFill>
                            <a:srgbClr val="FEFEFE"/>
                          </a:solidFill>
                          <a:latin typeface="Clear Sans Regular"/>
                        </a:rPr>
                        <a:t>A new row is inserted into the outbox table to represent the outgoing message. this insertion is done within the same database transaction as the business logic.</a:t>
                      </a:r>
                      <a:endParaRPr lang="en-US" sz="110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tr>
            </a:tbl>
          </a:graphicData>
        </a:graphic>
      </p:graphicFrame>
      <p:grpSp>
        <p:nvGrpSpPr>
          <p:cNvPr id="3" name="Group 3"/>
          <p:cNvGrpSpPr/>
          <p:nvPr/>
        </p:nvGrpSpPr>
        <p:grpSpPr>
          <a:xfrm>
            <a:off x="648954" y="3239589"/>
            <a:ext cx="6719927" cy="4052272"/>
            <a:chOff x="0" y="0"/>
            <a:chExt cx="8959902" cy="5403030"/>
          </a:xfrm>
        </p:grpSpPr>
        <p:sp>
          <p:nvSpPr>
            <p:cNvPr id="4" name="TextBox 4"/>
            <p:cNvSpPr txBox="1"/>
            <p:nvPr/>
          </p:nvSpPr>
          <p:spPr>
            <a:xfrm>
              <a:off x="0" y="66675"/>
              <a:ext cx="8959902" cy="4179100"/>
            </a:xfrm>
            <a:prstGeom prst="rect">
              <a:avLst/>
            </a:prstGeom>
          </p:spPr>
          <p:txBody>
            <a:bodyPr lIns="0" tIns="0" rIns="0" bIns="0" rtlCol="0" anchor="t">
              <a:spAutoFit/>
            </a:bodyPr>
            <a:lstStyle/>
            <a:p>
              <a:pPr algn="ctr">
                <a:lnSpc>
                  <a:spcPts val="4889"/>
                </a:lnSpc>
              </a:pPr>
              <a:r>
                <a:rPr lang="en-US" sz="4656">
                  <a:solidFill>
                    <a:srgbClr val="94DDDE"/>
                  </a:solidFill>
                  <a:latin typeface="Clear Sans Bold Bold"/>
                </a:rPr>
                <a:t>Pattern Components: Describe the key components of the Transactional Outbox pattern and their roles:</a:t>
              </a:r>
            </a:p>
          </p:txBody>
        </p:sp>
        <p:sp>
          <p:nvSpPr>
            <p:cNvPr id="5" name="TextBox 5"/>
            <p:cNvSpPr txBox="1"/>
            <p:nvPr/>
          </p:nvSpPr>
          <p:spPr>
            <a:xfrm>
              <a:off x="0" y="4652340"/>
              <a:ext cx="6952707" cy="750690"/>
            </a:xfrm>
            <a:prstGeom prst="rect">
              <a:avLst/>
            </a:prstGeom>
          </p:spPr>
          <p:txBody>
            <a:bodyPr lIns="0" tIns="0" rIns="0" bIns="0" rtlCol="0" anchor="t">
              <a:spAutoFit/>
            </a:bodyPr>
            <a:lstStyle/>
            <a:p>
              <a:pPr>
                <a:lnSpc>
                  <a:spcPts val="4726"/>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b="3630"/>
          <a:stretch>
            <a:fillRect/>
          </a:stretch>
        </p:blipFill>
        <p:spPr>
          <a:xfrm>
            <a:off x="2881094" y="1950904"/>
            <a:ext cx="12847703" cy="638519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pSp>
        <p:nvGrpSpPr>
          <p:cNvPr id="2" name="Group 2"/>
          <p:cNvGrpSpPr/>
          <p:nvPr/>
        </p:nvGrpSpPr>
        <p:grpSpPr>
          <a:xfrm>
            <a:off x="9144000" y="2529117"/>
            <a:ext cx="8217084" cy="5417213"/>
            <a:chOff x="0" y="0"/>
            <a:chExt cx="10956112" cy="7222951"/>
          </a:xfrm>
        </p:grpSpPr>
        <p:sp>
          <p:nvSpPr>
            <p:cNvPr id="3" name="TextBox 3"/>
            <p:cNvSpPr txBox="1"/>
            <p:nvPr/>
          </p:nvSpPr>
          <p:spPr>
            <a:xfrm>
              <a:off x="0" y="1368999"/>
              <a:ext cx="10956112" cy="2820195"/>
            </a:xfrm>
            <a:prstGeom prst="rect">
              <a:avLst/>
            </a:prstGeom>
          </p:spPr>
          <p:txBody>
            <a:bodyPr lIns="0" tIns="0" rIns="0" bIns="0" rtlCol="0" anchor="t">
              <a:spAutoFit/>
            </a:bodyPr>
            <a:lstStyle/>
            <a:p>
              <a:pPr>
                <a:lnSpc>
                  <a:spcPts val="8000"/>
                </a:lnSpc>
              </a:pPr>
              <a:r>
                <a:rPr lang="en-US" sz="8000">
                  <a:solidFill>
                    <a:srgbClr val="F7B4A7"/>
                  </a:solidFill>
                  <a:latin typeface="Clear Sans Bold Bold"/>
                </a:rPr>
                <a:t>THANK YOU FOR LISTENING</a:t>
              </a:r>
            </a:p>
          </p:txBody>
        </p:sp>
        <p:sp>
          <p:nvSpPr>
            <p:cNvPr id="4" name="TextBox 4"/>
            <p:cNvSpPr txBox="1"/>
            <p:nvPr/>
          </p:nvSpPr>
          <p:spPr>
            <a:xfrm>
              <a:off x="0" y="-47625"/>
              <a:ext cx="10956112" cy="525145"/>
            </a:xfrm>
            <a:prstGeom prst="rect">
              <a:avLst/>
            </a:prstGeom>
          </p:spPr>
          <p:txBody>
            <a:bodyPr lIns="0" tIns="0" rIns="0" bIns="0" rtlCol="0" anchor="t">
              <a:spAutoFit/>
            </a:bodyPr>
            <a:lstStyle/>
            <a:p>
              <a:pPr>
                <a:lnSpc>
                  <a:spcPts val="3359"/>
                </a:lnSpc>
              </a:pPr>
              <a:r>
                <a:rPr lang="en-US" sz="2400">
                  <a:solidFill>
                    <a:srgbClr val="94DDDE"/>
                  </a:solidFill>
                  <a:latin typeface="Clear Sans Regular"/>
                </a:rPr>
                <a:t>MAY 18, 2023</a:t>
              </a:r>
            </a:p>
          </p:txBody>
        </p:sp>
        <p:sp>
          <p:nvSpPr>
            <p:cNvPr id="5" name="TextBox 5"/>
            <p:cNvSpPr txBox="1"/>
            <p:nvPr/>
          </p:nvSpPr>
          <p:spPr>
            <a:xfrm>
              <a:off x="0" y="4871123"/>
              <a:ext cx="10956112" cy="2351828"/>
            </a:xfrm>
            <a:prstGeom prst="rect">
              <a:avLst/>
            </a:prstGeom>
          </p:spPr>
          <p:txBody>
            <a:bodyPr lIns="0" tIns="0" rIns="0" bIns="0" rtlCol="0" anchor="t">
              <a:spAutoFit/>
            </a:bodyPr>
            <a:lstStyle/>
            <a:p>
              <a:pPr>
                <a:lnSpc>
                  <a:spcPts val="4759"/>
                </a:lnSpc>
              </a:pPr>
              <a:r>
                <a:rPr lang="en-US" sz="3399">
                  <a:solidFill>
                    <a:srgbClr val="94DDDE"/>
                  </a:solidFill>
                  <a:latin typeface="Clear Sans Regular Bold"/>
                </a:rPr>
                <a:t>Abdulrahman Alchammaa </a:t>
              </a:r>
            </a:p>
            <a:p>
              <a:pPr>
                <a:lnSpc>
                  <a:spcPts val="4759"/>
                </a:lnSpc>
              </a:pPr>
              <a:r>
                <a:rPr lang="en-US" sz="3399">
                  <a:solidFill>
                    <a:srgbClr val="94DDDE"/>
                  </a:solidFill>
                  <a:latin typeface="Clear Sans Regular Bold"/>
                </a:rPr>
                <a:t>1700004624</a:t>
              </a:r>
            </a:p>
            <a:p>
              <a:pPr>
                <a:lnSpc>
                  <a:spcPts val="4759"/>
                </a:lnSpc>
              </a:pPr>
              <a:endParaRPr lang="en-US" sz="3399">
                <a:solidFill>
                  <a:srgbClr val="94DDDE"/>
                </a:solidFill>
                <a:latin typeface="Clear Sans Regular Bold"/>
              </a:endParaRPr>
            </a:p>
          </p:txBody>
        </p:sp>
      </p:gr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182834" y="-1921745"/>
            <a:ext cx="6755642" cy="4114800"/>
          </a:xfrm>
          <a:prstGeom prst="rect">
            <a:avLst/>
          </a:prstGeom>
        </p:spPr>
      </p:pic>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6303834" y="1790711"/>
            <a:ext cx="1194327" cy="2586142"/>
          </a:xfrm>
          <a:prstGeom prst="rect">
            <a:avLst/>
          </a:prstGeom>
        </p:spPr>
      </p:pic>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flipH="1">
            <a:off x="2095190" y="2021154"/>
            <a:ext cx="5357753" cy="5591583"/>
          </a:xfrm>
          <a:prstGeom prst="rect">
            <a:avLst/>
          </a:prstGeom>
        </p:spPr>
      </p:pic>
      <p:pic>
        <p:nvPicPr>
          <p:cNvPr id="9" name="Picture 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a:off x="-947148" y="1264426"/>
            <a:ext cx="3144039" cy="2440918"/>
          </a:xfrm>
          <a:prstGeom prst="rect">
            <a:avLst/>
          </a:prstGeom>
        </p:spPr>
      </p:pic>
      <p:pic>
        <p:nvPicPr>
          <p:cNvPr id="10" name="Picture 1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rcRect/>
          <a:stretch>
            <a:fillRect/>
          </a:stretch>
        </p:blipFill>
        <p:spPr>
          <a:xfrm>
            <a:off x="624872" y="5005800"/>
            <a:ext cx="1894295" cy="4252500"/>
          </a:xfrm>
          <a:prstGeom prst="rect">
            <a:avLst/>
          </a:prstGeom>
        </p:spPr>
      </p:pic>
      <p:pic>
        <p:nvPicPr>
          <p:cNvPr id="11" name="Picture 1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rcRect/>
          <a:stretch>
            <a:fillRect/>
          </a:stretch>
        </p:blipFill>
        <p:spPr>
          <a:xfrm>
            <a:off x="4011803" y="7612736"/>
            <a:ext cx="3486358"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716</Words>
  <Application>Microsoft Office PowerPoint</Application>
  <PresentationFormat>Custom</PresentationFormat>
  <Paragraphs>52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Clear Sans Bold</vt:lpstr>
      <vt:lpstr>Clear Sans Regular Bold</vt:lpstr>
      <vt:lpstr>Arial</vt:lpstr>
      <vt:lpstr>Clear Sans Regular</vt:lpstr>
      <vt:lpstr>Clear Sans Bold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Technology is Changing Education</dc:title>
  <cp:lastModifiedBy>Microsoft account</cp:lastModifiedBy>
  <cp:revision>2</cp:revision>
  <dcterms:created xsi:type="dcterms:W3CDTF">2006-08-16T00:00:00Z</dcterms:created>
  <dcterms:modified xsi:type="dcterms:W3CDTF">2023-05-21T21:22:02Z</dcterms:modified>
  <dc:identifier>DAFjP3NufwQ</dc:identifier>
</cp:coreProperties>
</file>